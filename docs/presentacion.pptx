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Calibri"/>
              </a:rPr>
              <a:t>Generador de</a:t>
            </a:r>
          </a:p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Oferta Académica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Introducción al Desarrollo de Software</a:t>
            </a:r>
          </a:p>
          <a:p>
            <a:pPr algn="l">
              <a:spcAft>
                <a:spcPts val="30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Asistido por IA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Agustín Maglione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CEIA — UBA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097280"/>
            <a:ext cx="1289304" cy="38404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CBD5E1"/>
                </a:solidFill>
                <a:latin typeface="Calibri"/>
              </a:rPr>
              <a:t>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0"/>
            <a:ext cx="1408176" cy="38404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CBD5E1"/>
                </a:solidFill>
                <a:latin typeface="Calibri"/>
              </a:rPr>
              <a:t>React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377440"/>
            <a:ext cx="2359152" cy="38404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CBD5E1"/>
                </a:solidFill>
                <a:latin typeface="Calibri"/>
              </a:rPr>
              <a:t>CP-SAT Optimizer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566160"/>
            <a:ext cx="1883664" cy="38404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CBD5E1"/>
                </a:solidFill>
                <a:latin typeface="Calibri"/>
              </a:rPr>
              <a:t>Multi-tenant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108960"/>
            <a:ext cx="1645920" cy="38404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CBD5E1"/>
                </a:solidFill>
                <a:latin typeface="Calibri"/>
              </a:rPr>
              <a:t>SQLAlchemy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4572000"/>
            <a:ext cx="1408176" cy="38404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CBD5E1"/>
                </a:solidFill>
                <a:latin typeface="Calibri"/>
              </a:rPr>
              <a:t>OR-Tools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4754880"/>
            <a:ext cx="1408176" cy="38404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CBD5E1"/>
                </a:solidFill>
                <a:latin typeface="Calibri"/>
              </a:rPr>
              <a:t>Tailwind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Proceso manual y complejo cada semestre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88336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👨‍🏫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43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Hay que cruzar docentes, franjas, aulas y correlatividades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640080" cy="6400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785615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40479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La demanda real depende del historial académico de cada alumno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882896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37759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Errores generan solapamientos, aulas sin uso o materias sin cubrir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45920"/>
            <a:ext cx="1920240" cy="20116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B82F6"/>
                </a:solidFill>
                <a:latin typeface="Calibri"/>
              </a:rPr>
              <a:t>Datos
académicos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Carreras, materias,
docentes, alumnos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231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645920"/>
            <a:ext cx="1920240" cy="20116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B82F6"/>
                </a:solidFill>
                <a:latin typeface="Calibri"/>
              </a:rPr>
              <a:t>Demanda
automática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Alumnos elegibles
por correlatividad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7408" y="24231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645920"/>
            <a:ext cx="1920240" cy="20116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B82F6"/>
                </a:solidFill>
                <a:latin typeface="Calibri"/>
              </a:rPr>
              <a:t>Optimizador
CP-SAT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Asigna docente
y franja horaria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24231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645920"/>
            <a:ext cx="1920240" cy="20116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B82F6"/>
                </a:solidFill>
                <a:latin typeface="Calibri"/>
              </a:rPr>
              <a:t>Oferta
editable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Calendario con
edición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4231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645920"/>
            <a:ext cx="1920240" cy="201168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B82F6"/>
                </a:solidFill>
                <a:latin typeface="Calibri"/>
              </a:rPr>
              <a:t>Insights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Alertas y
estadísticas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29200"/>
            <a:ext cx="2560320" cy="4572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BBF24"/>
                </a:solidFill>
                <a:latin typeface="Calibri"/>
              </a:rPr>
              <a:t>✦  Multi-tenant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5029200"/>
            <a:ext cx="3108960" cy="4572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BBF24"/>
                </a:solidFill>
                <a:latin typeface="Calibri"/>
              </a:rPr>
              <a:t>✦  Background task async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5029200"/>
            <a:ext cx="2377440" cy="4572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BBF24"/>
                </a:solidFill>
                <a:latin typeface="Calibri"/>
              </a:rPr>
              <a:t>✦  59 tests pytest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Tecnologías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01168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130552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Python 3.11 + FastAPI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API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62072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935224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SQLAlchemy 2.0 + Alembic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ORM + migraciones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66744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739896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Base de datos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471416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544568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Google OR-Tools — CP-SAT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Optimizador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276088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349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pytest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59 tests automatizados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01168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57400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130552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React 18 + Vite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Framework SPA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862072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935224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Tailwind CSS + shadcn/ui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Estilos + componentes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666744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739896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axios + JWT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HTTP client autenticado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471416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544568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lucide-react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Íconos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276088"/>
            <a:ext cx="5303520" cy="658368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349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sonner</a:t>
            </a:r>
          </a:p>
          <a:p>
            <a:r>
              <a:rPr sz="1100">
                <a:solidFill>
                  <a:srgbClr val="CBD5E1"/>
                </a:solidFill>
                <a:latin typeface="Calibri"/>
              </a:rPr>
              <a:t>Notificaciones toast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Motor de Optimización — CP-SAT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500" b="0">
                <a:solidFill>
                  <a:srgbClr val="FBBF24"/>
                </a:solidFill>
                <a:latin typeface="Calibri"/>
              </a:rPr>
              <a:t>Variable de decisión:  x[curso, docente, franja]  ∈  {0, 1}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256032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RESTRICCIONES DURAS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212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Cada curso → exactamente 1 (docente, franja)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212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Un docente no puede dar 2 cursos en la misma franja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5212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Horas semanales por docente ≤ límite configurado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212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Cursos simultáneos ≤ aulas disponibles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52120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Turnos permitidos por materia (allowed_turnos)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057400"/>
            <a:ext cx="237744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OBJETIVO (blandas)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50292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Minimizar solapamientos de materias del mismo año/carrera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291840"/>
            <a:ext cx="50292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Balancear carga horaria entre franjas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Si el solver agota el tiempo → devuelve la mejor solución encontrada (status: feasible, no optimal)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Cómo ayudó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214884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/brainstorming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Diseño colaborativo
qué construir y cómo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19456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554480"/>
            <a:ext cx="214884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/writing-plans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Plan TDD paso a paso
con código exacto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554480"/>
            <a:ext cx="214884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/subagent-driven-dev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Implementer + Reviewer
frescos por tarea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19456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554480"/>
            <a:ext cx="214884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/requesting-code-review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Review final
de rama completa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19456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554480"/>
            <a:ext cx="214884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3B82F6"/>
                </a:solidFill>
                <a:latin typeface="Calibri"/>
              </a:rPr>
              <a:t>/finishing-a-dev-branch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Tests → push/PR
controlado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500" b="0">
                <a:solidFill>
                  <a:srgbClr val="FBBF24"/>
                </a:solidFill>
                <a:latin typeface="Calibri"/>
              </a:rPr>
              <a:t>Rol del humano: definir QUÉ construir, elegir entre opciones, aprobar cada etapa.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1300" b="1">
                <a:solidFill>
                  <a:srgbClr val="CBD5E1"/>
                </a:solidFill>
                <a:latin typeface="Calibri"/>
              </a:rPr>
              <a:t>Bugs reales detectados por los subagentes de review: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  ·  Modelo CP-SAT vacío devolvía "optimal" cuando todas las materias tenían turno restringido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  ·  Turnos se ordenaban alfabéticamente: "Noche" antes que "Tarde" en estadísticas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  ·  TurnosBadge no distinguía null (todos los turnos) de [] (ningún turno)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Decisiones de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5303520" cy="1417320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19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CP-SAT vs heurísticas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Optimalidad garantizada o falla explícita con razón concreta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08760"/>
            <a:ext cx="5303520" cy="1417320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19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Background task async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El solver puede tardar minutos — la API no bloquea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54680"/>
            <a:ext cx="5303520" cy="1417320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Multi-tenant desde el inicio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Agregar multi-tenancy retroactivamente es costoso y riesgoso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154680"/>
            <a:ext cx="5303520" cy="1417320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15468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4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Insights en el backend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El backend tiene nombres resueltos; el frontend solo renderiza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5303520" cy="1417320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80060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377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Partial infeasibility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Reportar "Física II sin turno válido" es mas util que "la generacion fallo"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800600"/>
            <a:ext cx="5303520" cy="1417320"/>
          </a:xfrm>
          <a:prstGeom prst="rect">
            <a:avLst/>
          </a:prstGeom>
          <a:solidFill>
            <a:srgbClr val="1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800600"/>
            <a:ext cx="7315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localStorage para sesión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UX básica: recargar la página no debería forzar un nuevo login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Notificaciones en tiempo real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WebSocket para avisar cuando el job de generación termina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Gestión de alumnos desde la UI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Carga de historial académico sin tocar la base directamente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Comparación entre versiones de oferta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Ver diferencias antes de aprobar una nueva generación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51959"/>
            <a:ext cx="502920" cy="5029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Export a formatos institucionales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PDF y Excel para integración con sistemas académicos existentes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59"/>
            <a:ext cx="502920" cy="5029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1206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Restricciones de carga por carrera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Hoy el límite de horas es global; permitir configurarlo por carrera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474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Demo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github.com/amaglione/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academic-offer-generator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✓  Sistema web end-to-end completo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✓  Motor CP-SAT con 5 restricciones duras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✓  Calendario editable con drag &amp; drop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✓  Insights post-generación con alertas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✓  59 tests automatizados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✓  Desarrollado 100% con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